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7D531-AEA9-36A7-1826-F3E002FFD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4EA67-1F56-D944-A466-54B436C30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9D002-8C8E-FE23-D9E6-CF010D334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0D24-DBB6-4DD6-B08B-6E60EC82D85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5AC0E-4353-96E3-9A9C-D296A9BB8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12CBE-2676-6832-9AA5-170EB8D5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EF5A1-8C1F-4DC1-B114-2B614B36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20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A21EC-2609-82FA-B283-E78301049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03E6F-4F5D-A017-7C43-3D172E06B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854C6-48C8-DA4C-5AEA-467A3A213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0D24-DBB6-4DD6-B08B-6E60EC82D85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C9A1F-B54D-D5D5-8372-F1AAD981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9DDCF-CB37-DCB3-5CFD-2C5DDF8B3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EF5A1-8C1F-4DC1-B114-2B614B36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07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97F49-33E0-759F-6022-AF1ECD0D1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F53F4-E3B4-5CE6-07D7-9544F0748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99EF0-A306-94E6-0EB6-271ECE34A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0D24-DBB6-4DD6-B08B-6E60EC82D85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25040-D8B9-9EA6-E781-5183EBA71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5F9E4-83CA-2B9F-EDA8-73205897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EF5A1-8C1F-4DC1-B114-2B614B36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31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39F3-A9A1-5767-08E2-8B98BD7CA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F8769-84E8-45A3-592E-952983A85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B2E4A-7A2C-2F9F-1AEE-F2B8D4E5A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7BFD4-84B4-C3D8-23D4-3BD411C49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0D24-DBB6-4DD6-B08B-6E60EC82D85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2EDB-ECCE-8E23-5CDE-3CB6239BB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3EE33-C7A2-B32F-7677-3858C3CD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EF5A1-8C1F-4DC1-B114-2B614B36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4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F3D4-C724-DA62-E78B-34D4642B5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14182-2C79-B0D3-643B-2127AB636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07CB9-40E5-CCAB-FC53-69BDCC719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64C41B-E5A5-114E-2E33-AD0FE8913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BB2EBD-86D4-E8C3-030A-D63319D93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A69BEF-49CC-8E8C-475E-44DBCCAAC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0D24-DBB6-4DD6-B08B-6E60EC82D85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7F339-3782-BCF7-620C-33FB72CA7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39322E-FE4C-691C-3F5A-773A3BC6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EF5A1-8C1F-4DC1-B114-2B614B36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62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DDA10-95E5-01DB-1B27-FBC7918A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960DFF-D4B3-A4EC-45E2-67163CAE3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0D24-DBB6-4DD6-B08B-6E60EC82D85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08B2DB-781E-25FE-51C6-B3DC85BBF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46BBC-E11C-6F8C-9E98-95613841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EF5A1-8C1F-4DC1-B114-2B614B36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9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6DFB1D-5467-4287-23B3-D58F3FC8E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0D24-DBB6-4DD6-B08B-6E60EC82D85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0C5737-4E5B-8945-83D0-791EECB28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1E866-4901-BF9B-219B-C879C2D1A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EF5A1-8C1F-4DC1-B114-2B614B36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59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AE450-A313-068E-58AB-23771F12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8E1AA-CF4F-E7F0-3BBD-E54F37B87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E78B6-EBCF-CEE2-4C88-40661BA0B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01DAE-FB10-5A47-E5A2-982CF24E6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0D24-DBB6-4DD6-B08B-6E60EC82D85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93C1B-4836-0870-1EE9-2F8ABC7F7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06A9C-5D97-430F-EA75-7A0A68E0A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EF5A1-8C1F-4DC1-B114-2B614B36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10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7950B-8BC6-0B99-C9E9-37A75AB86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D6B4A-0A0E-1A80-D114-8E807536E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B31B2-D111-C462-CB79-592BA8DBE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BAF57-39A8-BE7B-C5DA-8A937381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0D24-DBB6-4DD6-B08B-6E60EC82D85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3D52F-E905-D3AD-04C1-A7929ECA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848EB-9A8F-50BA-B5B3-7CE70CAC3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EF5A1-8C1F-4DC1-B114-2B614B36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8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3914B-6DDC-915E-D2E1-636E8771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A89BE-16CB-B705-EAE2-4056CB3B7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A18F6-1E7A-4FE2-CDC2-18CADEBFE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0D24-DBB6-4DD6-B08B-6E60EC82D85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A5FD9-F887-F5CB-E51C-2FCF9AD6C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1D0B9-E07E-4107-6ED7-69C2358EF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EF5A1-8C1F-4DC1-B114-2B614B36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64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DB970B-427C-DCCB-B7C1-8EE7D03BFD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B45A6-1C0A-09D9-28A2-B6235C913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AA83B-D980-DD56-82E7-D972CF64A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0D24-DBB6-4DD6-B08B-6E60EC82D85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92BA9-6006-1E28-6DBC-F342CC6D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68348-258F-2B3A-9A16-FC1F1B816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EF5A1-8C1F-4DC1-B114-2B614B36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4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4ED78C-FF39-F460-C153-71D40E218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B0C39-A967-314F-F677-F639E65B5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2BFA2-6966-DE55-4D2F-1D679D00C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70D24-DBB6-4DD6-B08B-6E60EC82D85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43185-A346-C48D-AF67-F7DDB95EC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BA7B4-FFDF-A3D3-F570-24EF774F5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EF5A1-8C1F-4DC1-B114-2B614B36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6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2635E-CCFF-298E-68D3-2F9ED6A7B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6128"/>
            <a:ext cx="9144000" cy="133493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Proses </a:t>
            </a:r>
            <a:r>
              <a:rPr lang="en-US" b="1" dirty="0" err="1">
                <a:solidFill>
                  <a:srgbClr val="FF0000"/>
                </a:solidFill>
              </a:rPr>
              <a:t>və</a:t>
            </a:r>
            <a:r>
              <a:rPr lang="en-US" b="1" dirty="0">
                <a:solidFill>
                  <a:srgbClr val="FF0000"/>
                </a:solidFill>
              </a:rPr>
              <a:t> Servis </a:t>
            </a:r>
            <a:r>
              <a:rPr lang="en-US" b="1" dirty="0" err="1">
                <a:solidFill>
                  <a:srgbClr val="FF0000"/>
                </a:solidFill>
              </a:rPr>
              <a:t>Nədir</a:t>
            </a:r>
            <a:r>
              <a:rPr lang="en-US" b="1" dirty="0">
                <a:solidFill>
                  <a:srgbClr val="FF0000"/>
                </a:solidFill>
              </a:rPr>
              <a:t>?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4423A7-F6CF-0D03-44A2-76B646C94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83956"/>
            <a:ext cx="9144000" cy="3606629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300" b="1" dirty="0">
                <a:solidFill>
                  <a:srgbClr val="FF0000"/>
                </a:solidFill>
              </a:rPr>
              <a:t>Proses (Process):</a:t>
            </a:r>
            <a:r>
              <a:rPr lang="en-US" sz="3300" dirty="0">
                <a:solidFill>
                  <a:srgbClr val="FF0000"/>
                </a:solidFill>
              </a:rPr>
              <a:t> </a:t>
            </a:r>
            <a:r>
              <a:rPr lang="en-US" sz="3300" dirty="0"/>
              <a:t>Linux-da </a:t>
            </a:r>
            <a:r>
              <a:rPr lang="en-US" sz="3300" dirty="0" err="1"/>
              <a:t>hər</a:t>
            </a:r>
            <a:r>
              <a:rPr lang="en-US" sz="3300" dirty="0"/>
              <a:t> </a:t>
            </a:r>
            <a:r>
              <a:rPr lang="en-US" sz="3300" dirty="0" err="1"/>
              <a:t>hansı</a:t>
            </a:r>
            <a:r>
              <a:rPr lang="en-US" sz="3300" dirty="0"/>
              <a:t> </a:t>
            </a:r>
            <a:r>
              <a:rPr lang="en-US" sz="3300" dirty="0" err="1"/>
              <a:t>bir</a:t>
            </a:r>
            <a:r>
              <a:rPr lang="en-US" sz="3300" dirty="0"/>
              <a:t> </a:t>
            </a:r>
            <a:r>
              <a:rPr lang="en-US" sz="3300" dirty="0" err="1"/>
              <a:t>komandanı</a:t>
            </a:r>
            <a:r>
              <a:rPr lang="en-US" sz="3300" dirty="0"/>
              <a:t> </a:t>
            </a:r>
            <a:r>
              <a:rPr lang="en-US" sz="3300" dirty="0" err="1"/>
              <a:t>və</a:t>
            </a:r>
            <a:r>
              <a:rPr lang="en-US" sz="3300" dirty="0"/>
              <a:t> </a:t>
            </a:r>
            <a:r>
              <a:rPr lang="en-US" sz="3300" dirty="0" err="1"/>
              <a:t>ya</a:t>
            </a:r>
            <a:r>
              <a:rPr lang="en-US" sz="3300" dirty="0"/>
              <a:t> </a:t>
            </a:r>
            <a:r>
              <a:rPr lang="en-US" sz="3300" dirty="0" err="1"/>
              <a:t>proqramı</a:t>
            </a:r>
            <a:r>
              <a:rPr lang="en-US" sz="3300" dirty="0"/>
              <a:t> </a:t>
            </a:r>
            <a:r>
              <a:rPr lang="en-US" sz="3300" dirty="0" err="1"/>
              <a:t>işə</a:t>
            </a:r>
            <a:r>
              <a:rPr lang="en-US" sz="3300" dirty="0"/>
              <a:t> </a:t>
            </a:r>
            <a:r>
              <a:rPr lang="en-US" sz="3300" dirty="0" err="1"/>
              <a:t>saldığın</a:t>
            </a:r>
            <a:r>
              <a:rPr lang="en-US" sz="3300" dirty="0"/>
              <a:t> an </a:t>
            </a:r>
            <a:r>
              <a:rPr lang="en-US" sz="3300" dirty="0" err="1"/>
              <a:t>yaranan</a:t>
            </a:r>
            <a:r>
              <a:rPr lang="en-US" sz="3300" dirty="0"/>
              <a:t> </a:t>
            </a:r>
            <a:r>
              <a:rPr lang="en-US" sz="3300" dirty="0" err="1"/>
              <a:t>canlı</a:t>
            </a:r>
            <a:r>
              <a:rPr lang="en-US" sz="3300" dirty="0"/>
              <a:t> </a:t>
            </a:r>
            <a:r>
              <a:rPr lang="en-US" sz="3300" dirty="0" err="1"/>
              <a:t>obyektdir</a:t>
            </a:r>
            <a:r>
              <a:rPr lang="en-US" sz="3300" dirty="0"/>
              <a:t>. </a:t>
            </a:r>
            <a:r>
              <a:rPr lang="en-US" sz="3300" dirty="0" err="1"/>
              <a:t>Hər</a:t>
            </a:r>
            <a:r>
              <a:rPr lang="en-US" sz="3300" dirty="0"/>
              <a:t> </a:t>
            </a:r>
            <a:r>
              <a:rPr lang="en-US" sz="3300" dirty="0" err="1"/>
              <a:t>bir</a:t>
            </a:r>
            <a:r>
              <a:rPr lang="en-US" sz="3300" dirty="0"/>
              <a:t> </a:t>
            </a:r>
            <a:r>
              <a:rPr lang="en-US" sz="3300" dirty="0" err="1"/>
              <a:t>prosesin</a:t>
            </a:r>
            <a:r>
              <a:rPr lang="en-US" sz="3300" dirty="0"/>
              <a:t> </a:t>
            </a:r>
            <a:r>
              <a:rPr lang="en-US" sz="3300" dirty="0" err="1"/>
              <a:t>sistemdə</a:t>
            </a:r>
            <a:r>
              <a:rPr lang="en-US" sz="3300" dirty="0"/>
              <a:t> </a:t>
            </a:r>
            <a:r>
              <a:rPr lang="en-US" sz="3300" dirty="0" err="1"/>
              <a:t>unikal</a:t>
            </a:r>
            <a:r>
              <a:rPr lang="en-US" sz="3300" dirty="0"/>
              <a:t> </a:t>
            </a:r>
            <a:r>
              <a:rPr lang="en-US" sz="3300" dirty="0" err="1"/>
              <a:t>bir</a:t>
            </a:r>
            <a:r>
              <a:rPr lang="en-US" sz="3300" dirty="0"/>
              <a:t> </a:t>
            </a:r>
            <a:r>
              <a:rPr lang="en-US" sz="3300" dirty="0" err="1"/>
              <a:t>nömrəsi</a:t>
            </a:r>
            <a:r>
              <a:rPr lang="en-US" sz="3300" dirty="0"/>
              <a:t> — </a:t>
            </a:r>
            <a:r>
              <a:rPr lang="en-US" sz="3300" b="1" dirty="0">
                <a:solidFill>
                  <a:srgbClr val="FF0000"/>
                </a:solidFill>
              </a:rPr>
              <a:t>PID (Process ID)</a:t>
            </a:r>
            <a:r>
              <a:rPr lang="en-US" sz="3300" dirty="0">
                <a:solidFill>
                  <a:srgbClr val="FF0000"/>
                </a:solidFill>
              </a:rPr>
              <a:t> </a:t>
            </a:r>
            <a:r>
              <a:rPr lang="en-US" sz="3300" dirty="0" err="1"/>
              <a:t>olur</a:t>
            </a:r>
            <a:r>
              <a:rPr lang="en-US" sz="3300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300" b="1" dirty="0">
                <a:solidFill>
                  <a:srgbClr val="FF0000"/>
                </a:solidFill>
              </a:rPr>
              <a:t>Servis (Daemon / Service):</a:t>
            </a:r>
            <a:r>
              <a:rPr lang="en-US" sz="3300" dirty="0">
                <a:solidFill>
                  <a:srgbClr val="FF0000"/>
                </a:solidFill>
              </a:rPr>
              <a:t> </a:t>
            </a:r>
            <a:r>
              <a:rPr lang="en-US" sz="3300" dirty="0" err="1"/>
              <a:t>Arxa</a:t>
            </a:r>
            <a:r>
              <a:rPr lang="en-US" sz="3300" dirty="0"/>
              <a:t> </a:t>
            </a:r>
            <a:r>
              <a:rPr lang="en-US" sz="3300" dirty="0" err="1"/>
              <a:t>fonda</a:t>
            </a:r>
            <a:r>
              <a:rPr lang="en-US" sz="3300" dirty="0"/>
              <a:t> (background) </a:t>
            </a:r>
            <a:r>
              <a:rPr lang="en-US" sz="3300" dirty="0" err="1"/>
              <a:t>daimi</a:t>
            </a:r>
            <a:r>
              <a:rPr lang="en-US" sz="3300" dirty="0"/>
              <a:t> </a:t>
            </a:r>
            <a:r>
              <a:rPr lang="en-US" sz="3300" dirty="0" err="1"/>
              <a:t>olaraq</a:t>
            </a:r>
            <a:r>
              <a:rPr lang="en-US" sz="3300" dirty="0"/>
              <a:t> </a:t>
            </a:r>
            <a:r>
              <a:rPr lang="en-US" sz="3300" dirty="0" err="1"/>
              <a:t>işləyən</a:t>
            </a:r>
            <a:r>
              <a:rPr lang="en-US" sz="3300" dirty="0"/>
              <a:t>, </a:t>
            </a:r>
            <a:r>
              <a:rPr lang="en-US" sz="3300" dirty="0" err="1"/>
              <a:t>istifadəçi</a:t>
            </a:r>
            <a:r>
              <a:rPr lang="en-US" sz="3300" dirty="0"/>
              <a:t> </a:t>
            </a:r>
            <a:r>
              <a:rPr lang="en-US" sz="3300" dirty="0" err="1"/>
              <a:t>görməsə</a:t>
            </a:r>
            <a:r>
              <a:rPr lang="en-US" sz="3300" dirty="0"/>
              <a:t> </a:t>
            </a:r>
            <a:r>
              <a:rPr lang="en-US" sz="3300" dirty="0" err="1"/>
              <a:t>də</a:t>
            </a:r>
            <a:r>
              <a:rPr lang="en-US" sz="3300" dirty="0"/>
              <a:t> </a:t>
            </a:r>
            <a:r>
              <a:rPr lang="en-US" sz="3300" dirty="0" err="1"/>
              <a:t>sistemin</a:t>
            </a:r>
            <a:r>
              <a:rPr lang="en-US" sz="3300" dirty="0"/>
              <a:t> </a:t>
            </a:r>
            <a:r>
              <a:rPr lang="en-US" sz="3300" dirty="0" err="1"/>
              <a:t>və</a:t>
            </a:r>
            <a:r>
              <a:rPr lang="en-US" sz="3300" dirty="0"/>
              <a:t> </a:t>
            </a:r>
            <a:r>
              <a:rPr lang="en-US" sz="3300" dirty="0" err="1"/>
              <a:t>ya</a:t>
            </a:r>
            <a:r>
              <a:rPr lang="en-US" sz="3300" dirty="0"/>
              <a:t> </a:t>
            </a:r>
            <a:r>
              <a:rPr lang="en-US" sz="3300" dirty="0" err="1"/>
              <a:t>şəbəkənin</a:t>
            </a:r>
            <a:r>
              <a:rPr lang="en-US" sz="3300" dirty="0"/>
              <a:t> </a:t>
            </a:r>
            <a:r>
              <a:rPr lang="en-US" sz="3300" dirty="0" err="1"/>
              <a:t>tələblərinə</a:t>
            </a:r>
            <a:r>
              <a:rPr lang="en-US" sz="3300" dirty="0"/>
              <a:t> </a:t>
            </a:r>
            <a:r>
              <a:rPr lang="en-US" sz="3300" dirty="0" err="1"/>
              <a:t>cavab</a:t>
            </a:r>
            <a:r>
              <a:rPr lang="en-US" sz="3300" dirty="0"/>
              <a:t> </a:t>
            </a:r>
            <a:r>
              <a:rPr lang="en-US" sz="3300" dirty="0" err="1"/>
              <a:t>verən</a:t>
            </a:r>
            <a:r>
              <a:rPr lang="en-US" sz="3300" dirty="0"/>
              <a:t> </a:t>
            </a:r>
            <a:r>
              <a:rPr lang="en-US" sz="3300" dirty="0" err="1"/>
              <a:t>xüsusi</a:t>
            </a:r>
            <a:r>
              <a:rPr lang="en-US" sz="3300" dirty="0"/>
              <a:t> </a:t>
            </a:r>
            <a:r>
              <a:rPr lang="en-US" sz="3300" dirty="0" err="1"/>
              <a:t>proqramlardır</a:t>
            </a:r>
            <a:r>
              <a:rPr lang="en-US" sz="3300" dirty="0"/>
              <a:t> (</a:t>
            </a:r>
            <a:r>
              <a:rPr lang="en-US" sz="3300" dirty="0" err="1"/>
              <a:t>məsələn</a:t>
            </a:r>
            <a:r>
              <a:rPr lang="en-US" sz="3300" dirty="0"/>
              <a:t>: SSH </a:t>
            </a:r>
            <a:r>
              <a:rPr lang="en-US" sz="3300" dirty="0" err="1"/>
              <a:t>servisi</a:t>
            </a:r>
            <a:r>
              <a:rPr lang="en-US" sz="3300" dirty="0"/>
              <a:t>, </a:t>
            </a:r>
            <a:r>
              <a:rPr lang="en-US" sz="3300" dirty="0" err="1"/>
              <a:t>Veb</a:t>
            </a:r>
            <a:r>
              <a:rPr lang="en-US" sz="3300" dirty="0"/>
              <a:t> server </a:t>
            </a:r>
            <a:r>
              <a:rPr lang="en-US" sz="3300" dirty="0" err="1"/>
              <a:t>servisi</a:t>
            </a:r>
            <a:r>
              <a:rPr lang="en-US" sz="3300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748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BFBB-C757-075E-C29B-EC9C43B81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1. top </a:t>
            </a:r>
            <a:r>
              <a:rPr lang="en-US" b="1" dirty="0" err="1">
                <a:solidFill>
                  <a:srgbClr val="FF0000"/>
                </a:solidFill>
              </a:rPr>
              <a:t>və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htop</a:t>
            </a:r>
            <a:r>
              <a:rPr lang="en-US" b="1" dirty="0">
                <a:solidFill>
                  <a:srgbClr val="FF0000"/>
                </a:solidFill>
              </a:rPr>
              <a:t> — </a:t>
            </a:r>
            <a:r>
              <a:rPr lang="en-US" b="1" dirty="0" err="1"/>
              <a:t>Sistem</a:t>
            </a:r>
            <a:r>
              <a:rPr lang="en-US" b="1" dirty="0"/>
              <a:t> </a:t>
            </a:r>
            <a:r>
              <a:rPr lang="en-US" b="1" dirty="0" err="1"/>
              <a:t>Resurslarının</a:t>
            </a:r>
            <a:r>
              <a:rPr lang="en-US" b="1" dirty="0"/>
              <a:t> </a:t>
            </a:r>
            <a:r>
              <a:rPr lang="en-US" b="1" dirty="0" err="1"/>
              <a:t>Monitorinqi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21BEF-5DA2-AC2F-9401-CCADE188C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Sistemdə</a:t>
            </a:r>
            <a:r>
              <a:rPr lang="en-US" dirty="0"/>
              <a:t> </a:t>
            </a:r>
            <a:r>
              <a:rPr lang="en-US" dirty="0" err="1"/>
              <a:t>nə</a:t>
            </a:r>
            <a:r>
              <a:rPr lang="en-US" dirty="0"/>
              <a:t> </a:t>
            </a:r>
            <a:r>
              <a:rPr lang="en-US" dirty="0" err="1"/>
              <a:t>qədər</a:t>
            </a:r>
            <a:r>
              <a:rPr lang="en-US" dirty="0"/>
              <a:t> RAM </a:t>
            </a:r>
            <a:r>
              <a:rPr lang="en-US" dirty="0" err="1"/>
              <a:t>və</a:t>
            </a:r>
            <a:r>
              <a:rPr lang="en-US" dirty="0"/>
              <a:t> CPU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olunduğunu</a:t>
            </a:r>
            <a:r>
              <a:rPr lang="en-US" dirty="0"/>
              <a:t>, </a:t>
            </a:r>
            <a:r>
              <a:rPr lang="en-US" dirty="0" err="1"/>
              <a:t>hansı</a:t>
            </a:r>
            <a:r>
              <a:rPr lang="en-US" dirty="0"/>
              <a:t> </a:t>
            </a:r>
            <a:r>
              <a:rPr lang="en-US" dirty="0" err="1"/>
              <a:t>proqramın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yorduğunu</a:t>
            </a:r>
            <a:r>
              <a:rPr lang="en-US" dirty="0"/>
              <a:t> </a:t>
            </a:r>
            <a:r>
              <a:rPr lang="en-US" dirty="0" err="1"/>
              <a:t>görmək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olunur</a:t>
            </a:r>
            <a:r>
              <a:rPr lang="en-US" dirty="0"/>
              <a:t>.</a:t>
            </a:r>
            <a:endParaRPr lang="az-Latn-AZ" dirty="0"/>
          </a:p>
          <a:p>
            <a:pPr marL="0" indent="0">
              <a:buNone/>
            </a:pPr>
            <a:r>
              <a:rPr lang="en-US" dirty="0" err="1"/>
              <a:t>Terminalda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top</a:t>
            </a:r>
            <a:r>
              <a:rPr lang="en-US" dirty="0"/>
              <a:t> </a:t>
            </a:r>
            <a:r>
              <a:rPr lang="en-US" dirty="0" err="1"/>
              <a:t>yaz</a:t>
            </a:r>
            <a:r>
              <a:rPr lang="en-US" dirty="0"/>
              <a:t>. Bu, Linux-un </a:t>
            </a:r>
            <a:r>
              <a:rPr lang="en-US" dirty="0" err="1"/>
              <a:t>klassik</a:t>
            </a:r>
            <a:r>
              <a:rPr lang="en-US" dirty="0"/>
              <a:t> "Task Manager"-</a:t>
            </a:r>
            <a:r>
              <a:rPr lang="en-US" dirty="0" err="1"/>
              <a:t>idir</a:t>
            </a:r>
            <a:r>
              <a:rPr lang="en-US" dirty="0"/>
              <a:t>. </a:t>
            </a:r>
            <a:r>
              <a:rPr lang="en-US" dirty="0" err="1"/>
              <a:t>Çıxmaq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klaviaturada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q</a:t>
            </a:r>
            <a:r>
              <a:rPr lang="en-US" dirty="0"/>
              <a:t> </a:t>
            </a:r>
            <a:r>
              <a:rPr lang="en-US" dirty="0" err="1"/>
              <a:t>düyməsini</a:t>
            </a:r>
            <a:r>
              <a:rPr lang="en-US" dirty="0"/>
              <a:t> </a:t>
            </a:r>
            <a:r>
              <a:rPr lang="en-US" dirty="0" err="1"/>
              <a:t>sıx</a:t>
            </a:r>
            <a:r>
              <a:rPr lang="en-US" dirty="0"/>
              <a:t>.  </a:t>
            </a:r>
            <a:endParaRPr lang="az-Latn-AZ" dirty="0"/>
          </a:p>
          <a:p>
            <a:pPr marL="0" indent="0">
              <a:buNone/>
            </a:pPr>
            <a:r>
              <a:rPr lang="en-US" dirty="0"/>
              <a:t>İndi </a:t>
            </a:r>
            <a:r>
              <a:rPr lang="en-US" dirty="0" err="1"/>
              <a:t>isə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vizual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rəngli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htop</a:t>
            </a:r>
            <a:r>
              <a:rPr lang="en-US" dirty="0"/>
              <a:t> </a:t>
            </a:r>
            <a:r>
              <a:rPr lang="en-US" dirty="0" err="1"/>
              <a:t>komandasını</a:t>
            </a:r>
            <a:r>
              <a:rPr lang="en-US" dirty="0"/>
              <a:t> </a:t>
            </a:r>
            <a:r>
              <a:rPr lang="en-US" dirty="0" err="1"/>
              <a:t>yaz</a:t>
            </a:r>
            <a:r>
              <a:rPr lang="en-US" dirty="0"/>
              <a:t>. (</a:t>
            </a:r>
            <a:r>
              <a:rPr lang="en-US" dirty="0" err="1"/>
              <a:t>Əgər</a:t>
            </a:r>
            <a:r>
              <a:rPr lang="en-US" dirty="0"/>
              <a:t> </a:t>
            </a:r>
            <a:r>
              <a:rPr lang="en-US" dirty="0" err="1"/>
              <a:t>quraşdırılmayıbsa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apt install </a:t>
            </a:r>
            <a:r>
              <a:rPr lang="en-US" dirty="0" err="1">
                <a:solidFill>
                  <a:srgbClr val="FF0000"/>
                </a:solidFill>
              </a:rPr>
              <a:t>htop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yazaraq</a:t>
            </a:r>
            <a:r>
              <a:rPr lang="en-US" dirty="0"/>
              <a:t> </a:t>
            </a:r>
            <a:r>
              <a:rPr lang="en-US" dirty="0" err="1"/>
              <a:t>yükləyə</a:t>
            </a:r>
            <a:r>
              <a:rPr lang="en-US" dirty="0"/>
              <a:t> </a:t>
            </a:r>
            <a:r>
              <a:rPr lang="en-US" dirty="0" err="1"/>
              <a:t>bilərsən</a:t>
            </a:r>
            <a:r>
              <a:rPr lang="en-US" dirty="0"/>
              <a:t>). </a:t>
            </a:r>
            <a:r>
              <a:rPr lang="en-US" dirty="0" err="1">
                <a:solidFill>
                  <a:srgbClr val="FF0000"/>
                </a:solidFill>
              </a:rPr>
              <a:t>htop</a:t>
            </a:r>
            <a:r>
              <a:rPr lang="en-US" dirty="0"/>
              <a:t> </a:t>
            </a:r>
            <a:r>
              <a:rPr lang="en-US" dirty="0" err="1"/>
              <a:t>sənə</a:t>
            </a:r>
            <a:r>
              <a:rPr lang="en-US" dirty="0"/>
              <a:t> </a:t>
            </a:r>
            <a:r>
              <a:rPr lang="en-US" dirty="0" err="1"/>
              <a:t>prosesləri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rahat</a:t>
            </a:r>
            <a:r>
              <a:rPr lang="en-US" dirty="0"/>
              <a:t> </a:t>
            </a:r>
            <a:r>
              <a:rPr lang="en-US" dirty="0" err="1"/>
              <a:t>idarə</a:t>
            </a:r>
            <a:r>
              <a:rPr lang="en-US" dirty="0"/>
              <a:t> </a:t>
            </a:r>
            <a:r>
              <a:rPr lang="en-US" dirty="0" err="1"/>
              <a:t>etməyə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lazım</a:t>
            </a:r>
            <a:r>
              <a:rPr lang="en-US" dirty="0"/>
              <a:t> </a:t>
            </a:r>
            <a:r>
              <a:rPr lang="en-US" dirty="0" err="1"/>
              <a:t>olduqda</a:t>
            </a:r>
            <a:r>
              <a:rPr lang="en-US" dirty="0"/>
              <a:t>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dayandırmağa</a:t>
            </a:r>
            <a:r>
              <a:rPr lang="en-US" dirty="0"/>
              <a:t> </a:t>
            </a:r>
            <a:r>
              <a:rPr lang="en-US" dirty="0" err="1"/>
              <a:t>kömək</a:t>
            </a:r>
            <a:r>
              <a:rPr lang="en-US" dirty="0"/>
              <a:t> </a:t>
            </a:r>
            <a:r>
              <a:rPr lang="en-US" dirty="0" err="1"/>
              <a:t>edir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1162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371A-2B01-575A-A646-8BAB5589F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696599" y="2766218"/>
            <a:ext cx="5908535" cy="1325563"/>
          </a:xfrm>
        </p:spPr>
        <p:txBody>
          <a:bodyPr>
            <a:normAutofit/>
          </a:bodyPr>
          <a:lstStyle/>
          <a:p>
            <a:r>
              <a:rPr lang="en-US" sz="8000" b="1" dirty="0" err="1">
                <a:solidFill>
                  <a:srgbClr val="FF0000"/>
                </a:solidFill>
              </a:rPr>
              <a:t>htop</a:t>
            </a:r>
            <a:endParaRPr lang="en-US" sz="8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DFE63-982F-4331-6E81-D55162AA1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15" y="267531"/>
            <a:ext cx="8928967" cy="632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461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5528-9A0D-D57E-F10F-28D870EF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2. </a:t>
            </a:r>
            <a:r>
              <a:rPr lang="en-US" b="1" dirty="0" err="1">
                <a:solidFill>
                  <a:srgbClr val="FF0000"/>
                </a:solidFill>
              </a:rPr>
              <a:t>systemctl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— </a:t>
            </a:r>
            <a:r>
              <a:rPr lang="en-US" b="1" dirty="0" err="1"/>
              <a:t>Servislərin</a:t>
            </a:r>
            <a:r>
              <a:rPr lang="en-US" b="1" dirty="0"/>
              <a:t> </a:t>
            </a:r>
            <a:r>
              <a:rPr lang="en-US" b="1" dirty="0" err="1"/>
              <a:t>İdarə</a:t>
            </a:r>
            <a:r>
              <a:rPr lang="en-US" b="1" dirty="0"/>
              <a:t> </a:t>
            </a:r>
            <a:r>
              <a:rPr lang="en-US" b="1" dirty="0" err="1"/>
              <a:t>Edilməsi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C2B96-2437-4DC0-0925-1F8D3593F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komanda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idarəçisinin</a:t>
            </a:r>
            <a:r>
              <a:rPr lang="en-US" dirty="0"/>
              <a:t> </a:t>
            </a:r>
            <a:r>
              <a:rPr lang="en-US" dirty="0" err="1"/>
              <a:t>ən</a:t>
            </a:r>
            <a:r>
              <a:rPr lang="en-US" dirty="0"/>
              <a:t> </a:t>
            </a:r>
            <a:r>
              <a:rPr lang="en-US" dirty="0" err="1"/>
              <a:t>çox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etdiyi</a:t>
            </a:r>
            <a:r>
              <a:rPr lang="en-US" dirty="0"/>
              <a:t> </a:t>
            </a:r>
            <a:r>
              <a:rPr lang="en-US" dirty="0" err="1"/>
              <a:t>alətdir</a:t>
            </a:r>
            <a:r>
              <a:rPr lang="en-US" dirty="0"/>
              <a:t>. </a:t>
            </a:r>
            <a:r>
              <a:rPr lang="en-US" dirty="0" err="1"/>
              <a:t>Servisləri</a:t>
            </a:r>
            <a:r>
              <a:rPr lang="en-US" dirty="0"/>
              <a:t> </a:t>
            </a:r>
            <a:r>
              <a:rPr lang="en-US" dirty="0" err="1"/>
              <a:t>dayandırmaq</a:t>
            </a:r>
            <a:r>
              <a:rPr lang="en-US" dirty="0"/>
              <a:t>, </a:t>
            </a:r>
            <a:r>
              <a:rPr lang="en-US" dirty="0" err="1"/>
              <a:t>başlatmaq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vəziyyətini</a:t>
            </a:r>
            <a:r>
              <a:rPr lang="en-US" dirty="0"/>
              <a:t> </a:t>
            </a:r>
            <a:r>
              <a:rPr lang="en-US" dirty="0" err="1"/>
              <a:t>yoxlamaq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olunur</a:t>
            </a:r>
            <a:r>
              <a:rPr lang="en-US" dirty="0"/>
              <a:t>. </a:t>
            </a:r>
            <a:r>
              <a:rPr lang="en-US" dirty="0" err="1"/>
              <a:t>Sənədində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Ubuntu </a:t>
            </a:r>
            <a:r>
              <a:rPr lang="en-US" dirty="0" err="1"/>
              <a:t>maşınındakı</a:t>
            </a:r>
            <a:r>
              <a:rPr lang="en-US" dirty="0"/>
              <a:t> SSH </a:t>
            </a:r>
            <a:r>
              <a:rPr lang="en-US" dirty="0" err="1"/>
              <a:t>servisi</a:t>
            </a:r>
            <a:r>
              <a:rPr lang="en-US" dirty="0"/>
              <a:t> </a:t>
            </a:r>
            <a:r>
              <a:rPr lang="en-US" dirty="0" err="1"/>
              <a:t>üzərində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test </a:t>
            </a:r>
            <a:r>
              <a:rPr lang="en-US" dirty="0" err="1"/>
              <a:t>edək</a:t>
            </a:r>
            <a:r>
              <a:rPr lang="en-US" dirty="0"/>
              <a:t>:  </a:t>
            </a:r>
            <a:endParaRPr lang="az-Latn-AZ" dirty="0"/>
          </a:p>
          <a:p>
            <a:r>
              <a:rPr lang="en-US" dirty="0" err="1"/>
              <a:t>Servisin</a:t>
            </a:r>
            <a:r>
              <a:rPr lang="en-US" dirty="0"/>
              <a:t> </a:t>
            </a:r>
            <a:r>
              <a:rPr lang="en-US" dirty="0" err="1"/>
              <a:t>statusuna</a:t>
            </a:r>
            <a:r>
              <a:rPr lang="en-US" dirty="0"/>
              <a:t> </a:t>
            </a:r>
            <a:r>
              <a:rPr lang="en-US" dirty="0" err="1"/>
              <a:t>baxmaq</a:t>
            </a:r>
            <a:r>
              <a:rPr lang="en-US" dirty="0"/>
              <a:t>:</a:t>
            </a:r>
            <a:r>
              <a:rPr lang="az-Latn-AZ" dirty="0"/>
              <a:t> </a:t>
            </a: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systemctl</a:t>
            </a:r>
            <a:r>
              <a:rPr lang="en-US" dirty="0">
                <a:solidFill>
                  <a:srgbClr val="FF0000"/>
                </a:solidFill>
              </a:rPr>
              <a:t> status ssh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Burada</a:t>
            </a:r>
            <a:r>
              <a:rPr lang="en-US" dirty="0"/>
              <a:t> Active: active (running) </a:t>
            </a:r>
            <a:r>
              <a:rPr lang="en-US" dirty="0" err="1"/>
              <a:t>yaşıl</a:t>
            </a:r>
            <a:r>
              <a:rPr lang="en-US" dirty="0"/>
              <a:t> </a:t>
            </a:r>
            <a:r>
              <a:rPr lang="en-US" dirty="0" err="1"/>
              <a:t>rəngdə</a:t>
            </a:r>
            <a:r>
              <a:rPr lang="en-US" dirty="0"/>
              <a:t> </a:t>
            </a:r>
            <a:r>
              <a:rPr lang="en-US" dirty="0" err="1"/>
              <a:t>yazını</a:t>
            </a:r>
            <a:r>
              <a:rPr lang="en-US" dirty="0"/>
              <a:t> </a:t>
            </a:r>
            <a:r>
              <a:rPr lang="en-US" dirty="0" err="1"/>
              <a:t>görməlisən</a:t>
            </a:r>
            <a:r>
              <a:rPr lang="en-US" dirty="0"/>
              <a:t>).</a:t>
            </a:r>
            <a:endParaRPr lang="az-Latn-AZ" dirty="0"/>
          </a:p>
          <a:p>
            <a:r>
              <a:rPr lang="en-US" dirty="0" err="1"/>
              <a:t>Servisi</a:t>
            </a:r>
            <a:r>
              <a:rPr lang="en-US" dirty="0"/>
              <a:t> </a:t>
            </a:r>
            <a:r>
              <a:rPr lang="en-US" dirty="0" err="1"/>
              <a:t>dayandırmaq</a:t>
            </a:r>
            <a:r>
              <a:rPr lang="en-US" dirty="0"/>
              <a:t>: </a:t>
            </a: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systemctl</a:t>
            </a:r>
            <a:r>
              <a:rPr lang="en-US" dirty="0">
                <a:solidFill>
                  <a:srgbClr val="FF0000"/>
                </a:solidFill>
              </a:rPr>
              <a:t> stop ssh</a:t>
            </a:r>
            <a:endParaRPr lang="az-Latn-AZ" dirty="0">
              <a:solidFill>
                <a:srgbClr val="FF0000"/>
              </a:solidFill>
            </a:endParaRPr>
          </a:p>
          <a:p>
            <a:r>
              <a:rPr lang="en-US" dirty="0" err="1"/>
              <a:t>Servisi</a:t>
            </a:r>
            <a:r>
              <a:rPr lang="en-US" dirty="0"/>
              <a:t> </a:t>
            </a:r>
            <a:r>
              <a:rPr lang="en-US" dirty="0" err="1"/>
              <a:t>yenidən</a:t>
            </a:r>
            <a:r>
              <a:rPr lang="en-US" dirty="0"/>
              <a:t> </a:t>
            </a:r>
            <a:r>
              <a:rPr lang="en-US" dirty="0" err="1"/>
              <a:t>başlatmaq</a:t>
            </a:r>
            <a:r>
              <a:rPr lang="en-US" dirty="0"/>
              <a:t>: </a:t>
            </a: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systemctl</a:t>
            </a:r>
            <a:r>
              <a:rPr lang="en-US" dirty="0">
                <a:solidFill>
                  <a:srgbClr val="FF0000"/>
                </a:solidFill>
              </a:rPr>
              <a:t> start ssh</a:t>
            </a:r>
            <a:endParaRPr lang="az-Latn-AZ" dirty="0">
              <a:solidFill>
                <a:srgbClr val="FF0000"/>
              </a:solidFill>
            </a:endParaRPr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açılanda</a:t>
            </a:r>
            <a:r>
              <a:rPr lang="en-US" dirty="0"/>
              <a:t> </a:t>
            </a:r>
            <a:r>
              <a:rPr lang="en-US" dirty="0" err="1"/>
              <a:t>avtomatik</a:t>
            </a:r>
            <a:r>
              <a:rPr lang="en-US" dirty="0"/>
              <a:t> </a:t>
            </a:r>
            <a:r>
              <a:rPr lang="en-US" dirty="0" err="1"/>
              <a:t>başlamasını</a:t>
            </a:r>
            <a:r>
              <a:rPr lang="en-US" dirty="0"/>
              <a:t> </a:t>
            </a:r>
            <a:r>
              <a:rPr lang="en-US" dirty="0" err="1"/>
              <a:t>təmin</a:t>
            </a:r>
            <a:r>
              <a:rPr lang="en-US" dirty="0"/>
              <a:t> </a:t>
            </a:r>
            <a:r>
              <a:rPr lang="en-US" dirty="0" err="1"/>
              <a:t>etmək</a:t>
            </a:r>
            <a:r>
              <a:rPr lang="en-US" dirty="0"/>
              <a:t>: </a:t>
            </a: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systemctl</a:t>
            </a:r>
            <a:r>
              <a:rPr lang="en-US" dirty="0">
                <a:solidFill>
                  <a:srgbClr val="FF0000"/>
                </a:solidFill>
              </a:rPr>
              <a:t> enable ssh</a:t>
            </a:r>
          </a:p>
        </p:txBody>
      </p:sp>
    </p:spTree>
    <p:extLst>
      <p:ext uri="{BB962C8B-B14F-4D97-AF65-F5344CB8AC3E}">
        <p14:creationId xmlns:p14="http://schemas.microsoft.com/office/powerpoint/2010/main" val="1707887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7E5AA-959B-518D-E2D3-F731DFB1C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277064" y="3247991"/>
            <a:ext cx="5247020" cy="1325563"/>
          </a:xfrm>
        </p:spPr>
        <p:txBody>
          <a:bodyPr>
            <a:normAutofit/>
          </a:bodyPr>
          <a:lstStyle/>
          <a:p>
            <a:r>
              <a:rPr lang="en-US" sz="7200" b="1" dirty="0" err="1">
                <a:solidFill>
                  <a:srgbClr val="FF0000"/>
                </a:solidFill>
              </a:rPr>
              <a:t>Praktik</a:t>
            </a:r>
            <a:r>
              <a:rPr lang="az-Latn-AZ" sz="7200" b="1" dirty="0">
                <a:solidFill>
                  <a:srgbClr val="FF0000"/>
                </a:solidFill>
              </a:rPr>
              <a:t>a</a:t>
            </a:r>
            <a:endParaRPr lang="en-US" sz="7200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7C8FC0-6F1D-6CE7-D781-67C1DFFB12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524" b="3560"/>
          <a:stretch>
            <a:fillRect/>
          </a:stretch>
        </p:blipFill>
        <p:spPr>
          <a:xfrm>
            <a:off x="2678117" y="122068"/>
            <a:ext cx="7557837" cy="661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924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252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Proses və Servis Nədir? </vt:lpstr>
      <vt:lpstr>1. top və htop — Sistem Resurslarının Monitorinqi</vt:lpstr>
      <vt:lpstr>htop</vt:lpstr>
      <vt:lpstr>2. systemctl — Servislərin İdarə Edilməsi</vt:lpstr>
      <vt:lpstr>Praktika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2</cp:revision>
  <dcterms:created xsi:type="dcterms:W3CDTF">2026-05-23T17:46:16Z</dcterms:created>
  <dcterms:modified xsi:type="dcterms:W3CDTF">2026-05-23T20:58:56Z</dcterms:modified>
</cp:coreProperties>
</file>