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2CAF-A4AB-841E-8682-2EB125067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CBA87-3C11-96E5-5762-D202A8F92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EF4AA-AA19-E300-2186-A3EB2DB5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F2908-066E-68AE-B917-37EBED325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CDC27-805F-CE12-D2EB-CADE72FD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0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142DB-FCA7-92D0-496B-0FF672E46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B4283-5990-DD4E-2589-0541F9A12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A9D03-A3BD-753C-12EF-86C014104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5AC9D-2A5E-D2CF-8447-6484126D8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6F757-CD7A-0F75-20E2-07ECBD2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2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F303-F75C-A242-2EDE-EA4DCCC67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9A1D9-8E74-B075-1A17-2484D8D75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6F525-DE36-4272-746E-A764CB653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8FC76-3D83-858F-E988-258D6CEC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4258E-A000-9BF9-7D85-05A13347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81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D8F0-3571-0A50-42E1-C18E61419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E29C8-F31E-645A-57BD-8AF33A252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2D083-D26B-9D6B-1790-150C9349A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27C12-975A-886F-C9B6-F611C80E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7D093-C7D2-8CB1-FFDF-1A09EAD3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6FAD6-3285-2924-5268-ACFB5503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29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D876-8AF6-E817-A57C-7E8C93759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1C543-051F-AB20-42A8-151F3A9FA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452EA-F3E3-45A9-5738-D4F4FE1F6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F4FFF-6A32-42BF-F155-1FF9F76D5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E0A5E-0113-E193-3320-25199A409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0077C-2983-8A23-7A5E-BE5D77DB1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A3AAEA-5150-986B-3F50-5F23D594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2D623B-9E35-1B17-1B1B-C7AB2CE26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9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CD33-F185-F1BC-530F-ECD58F3D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70E59-E1C6-0975-8548-717EE487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4DB59-30AF-B86E-CF8A-5B5B30002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E9519-275E-FE04-8328-89EF2547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6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B1200-FC2A-1AAD-5057-28E7A49A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E7099-0453-FB52-F376-68A133DCD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634B4-3CB5-A852-4DF5-6760C12C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6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1A60-7EA1-35BE-B0A4-5D553E29A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2EB8D-205F-AE33-FD0C-5B5043FA4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EAA57-F843-6325-C1FC-44C8FC076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8EFB2-3CE8-FAA4-A136-BA1BD96C5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92467-ACCE-32BF-366D-4E1F36354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31206-5061-B3EE-0EF3-5237CBD2C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13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357D6-A74C-FB8F-34E1-36D48166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359B7-ED4C-F7EA-1A5B-B9C8CAD50C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ED24A-5B40-5CAF-F8F5-5C2B1070D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91275-C4D3-D892-2893-90715739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E14A5-0772-A197-25A4-CAD200F5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84B74-1E5A-C53D-D90D-BA4F09E0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3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FC3B-1E24-59ED-8A13-C8D61215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F5EF5-D048-1E8F-4273-4CE4597D5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26AED-7D6E-5B99-711D-59DE1BEF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7AB9B-9E71-9E11-54C7-B2A3287E2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7C1C0-30D3-C965-A68F-21115518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62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3A158-BF0F-1DA8-1424-8484337B5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A3003-DEC0-DCB7-5BEA-9EE678406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57C60-0AD2-9F62-3F99-06095A08F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9B514-8536-296F-2FCB-A2B41AA4E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E730-D223-FE80-E045-E78D42ED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0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686D2B-2676-6834-F768-572CC4F9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75F7A-E233-E283-1E93-937B310F3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A9EB1-782B-3242-F801-4988BB1AA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B34D4-D73D-44D1-B365-550939F2C566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61523-DB1E-E537-5CD4-64B5F64DA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44CDE-3E9F-F37F-E676-ADB1D5601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C0822-C2D4-4C97-8204-742FC7CC5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2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32451-DB01-5D81-106D-50FFCCA94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6410"/>
            <a:ext cx="9144000" cy="911142"/>
          </a:xfrm>
        </p:spPr>
        <p:txBody>
          <a:bodyPr>
            <a:normAutofit fontScale="90000"/>
          </a:bodyPr>
          <a:lstStyle/>
          <a:p>
            <a:r>
              <a:rPr lang="az-Latn-AZ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Subnetting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IP Planning-in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4D362-63EC-662C-9339-9C20BC45C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0410" y="2074028"/>
            <a:ext cx="9144000" cy="1655762"/>
          </a:xfrm>
        </p:spPr>
        <p:txBody>
          <a:bodyPr/>
          <a:lstStyle/>
          <a:p>
            <a:pPr algn="l"/>
            <a:r>
              <a:rPr lang="en-US" dirty="0" err="1"/>
              <a:t>Şirkətlərdə</a:t>
            </a:r>
            <a:r>
              <a:rPr lang="en-US" dirty="0"/>
              <a:t> </a:t>
            </a:r>
            <a:r>
              <a:rPr lang="en-US" dirty="0" err="1"/>
              <a:t>minlərlə</a:t>
            </a:r>
            <a:r>
              <a:rPr lang="en-US" dirty="0"/>
              <a:t> </a:t>
            </a:r>
            <a:r>
              <a:rPr lang="en-US" dirty="0" err="1"/>
              <a:t>kompüter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server </a:t>
            </a:r>
            <a:r>
              <a:rPr lang="en-US" dirty="0" err="1"/>
              <a:t>olur</a:t>
            </a:r>
            <a:r>
              <a:rPr lang="en-US" dirty="0"/>
              <a:t>. </a:t>
            </a:r>
            <a:r>
              <a:rPr lang="en-US" dirty="0" err="1"/>
              <a:t>Əgər</a:t>
            </a:r>
            <a:r>
              <a:rPr lang="en-US" dirty="0"/>
              <a:t> </a:t>
            </a:r>
            <a:r>
              <a:rPr lang="en-US" dirty="0" err="1"/>
              <a:t>hamısını</a:t>
            </a:r>
            <a:r>
              <a:rPr lang="en-US" dirty="0"/>
              <a:t> </a:t>
            </a:r>
            <a:r>
              <a:rPr lang="en-US" dirty="0" err="1"/>
              <a:t>eyni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böyük</a:t>
            </a:r>
            <a:r>
              <a:rPr lang="en-US" dirty="0"/>
              <a:t> </a:t>
            </a:r>
            <a:r>
              <a:rPr lang="en-US" dirty="0" err="1"/>
              <a:t>şəbəkəyə</a:t>
            </a:r>
            <a:r>
              <a:rPr lang="en-US" dirty="0"/>
              <a:t> </a:t>
            </a:r>
            <a:r>
              <a:rPr lang="en-US" dirty="0" err="1"/>
              <a:t>qoysaq</a:t>
            </a:r>
            <a:r>
              <a:rPr lang="en-US" dirty="0"/>
              <a:t>, </a:t>
            </a:r>
            <a:r>
              <a:rPr lang="en-US" dirty="0" err="1"/>
              <a:t>şəbəkədə</a:t>
            </a:r>
            <a:r>
              <a:rPr lang="en-US" dirty="0"/>
              <a:t> </a:t>
            </a:r>
            <a:r>
              <a:rPr lang="en-US" dirty="0" err="1"/>
              <a:t>çoxlu</a:t>
            </a:r>
            <a:r>
              <a:rPr lang="en-US" dirty="0"/>
              <a:t> </a:t>
            </a:r>
            <a:r>
              <a:rPr lang="en-US" dirty="0" err="1"/>
              <a:t>lazımsız</a:t>
            </a:r>
            <a:r>
              <a:rPr lang="en-US" dirty="0"/>
              <a:t> </a:t>
            </a:r>
            <a:r>
              <a:rPr lang="en-US" dirty="0" err="1"/>
              <a:t>trafik</a:t>
            </a:r>
            <a:r>
              <a:rPr lang="en-US" dirty="0"/>
              <a:t> (Broadcast </a:t>
            </a:r>
            <a:r>
              <a:rPr lang="en-US" dirty="0" err="1"/>
              <a:t>fırtınası</a:t>
            </a:r>
            <a:r>
              <a:rPr lang="en-US" dirty="0"/>
              <a:t>) </a:t>
            </a:r>
            <a:r>
              <a:rPr lang="en-US" dirty="0" err="1"/>
              <a:t>yaranacaq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təhlükəsizlik</a:t>
            </a:r>
            <a:r>
              <a:rPr lang="en-US" dirty="0"/>
              <a:t> </a:t>
            </a:r>
            <a:r>
              <a:rPr lang="en-US" dirty="0" err="1"/>
              <a:t>sıfıra</a:t>
            </a:r>
            <a:r>
              <a:rPr lang="en-US" dirty="0"/>
              <a:t> </a:t>
            </a:r>
            <a:r>
              <a:rPr lang="en-US" dirty="0" err="1"/>
              <a:t>enəcək</a:t>
            </a:r>
            <a:r>
              <a:rPr lang="en-US" dirty="0"/>
              <a:t>. Buna </a:t>
            </a:r>
            <a:r>
              <a:rPr lang="en-US" dirty="0" err="1"/>
              <a:t>görə</a:t>
            </a:r>
            <a:r>
              <a:rPr lang="en-US" dirty="0"/>
              <a:t> </a:t>
            </a:r>
            <a:r>
              <a:rPr lang="en-US" dirty="0" err="1"/>
              <a:t>şəbəkəni</a:t>
            </a:r>
            <a:r>
              <a:rPr lang="en-US" dirty="0"/>
              <a:t> alt </a:t>
            </a:r>
            <a:r>
              <a:rPr lang="en-US" dirty="0" err="1"/>
              <a:t>şəbəkələrə</a:t>
            </a:r>
            <a:r>
              <a:rPr lang="en-US" dirty="0"/>
              <a:t> (Subnet-</a:t>
            </a:r>
            <a:r>
              <a:rPr lang="en-US" dirty="0" err="1"/>
              <a:t>lərə</a:t>
            </a:r>
            <a:r>
              <a:rPr lang="en-US" dirty="0"/>
              <a:t>) </a:t>
            </a:r>
            <a:r>
              <a:rPr lang="en-US" dirty="0" err="1"/>
              <a:t>bölürük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117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BDF3-2898-AC58-0C4A-11E284D9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IPv4-ün </a:t>
            </a:r>
            <a:r>
              <a:rPr lang="en-US" b="1" dirty="0" err="1">
                <a:solidFill>
                  <a:srgbClr val="FF0000"/>
                </a:solidFill>
              </a:rPr>
              <a:t>daxili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quruluşu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6C698-3624-E097-4230-5B7D94E9A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IPv4 </a:t>
            </a:r>
            <a:r>
              <a:rPr lang="en-US" dirty="0" err="1"/>
              <a:t>ünvanı</a:t>
            </a:r>
            <a:r>
              <a:rPr lang="en-US" dirty="0"/>
              <a:t> 32 </a:t>
            </a:r>
            <a:r>
              <a:rPr lang="en-US" dirty="0" err="1"/>
              <a:t>bitdən</a:t>
            </a:r>
            <a:r>
              <a:rPr lang="en-US" dirty="0"/>
              <a:t> </a:t>
            </a:r>
            <a:r>
              <a:rPr lang="en-US" dirty="0" err="1"/>
              <a:t>ibarətdir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4 </a:t>
            </a:r>
            <a:r>
              <a:rPr lang="en-US" dirty="0" err="1"/>
              <a:t>nöqtə</a:t>
            </a:r>
            <a:r>
              <a:rPr lang="en-US" dirty="0"/>
              <a:t> </a:t>
            </a:r>
            <a:r>
              <a:rPr lang="en-US" dirty="0" err="1"/>
              <a:t>ilə</a:t>
            </a:r>
            <a:r>
              <a:rPr lang="en-US" dirty="0"/>
              <a:t> </a:t>
            </a:r>
            <a:r>
              <a:rPr lang="en-US" dirty="0" err="1"/>
              <a:t>ayrılmış</a:t>
            </a:r>
            <a:r>
              <a:rPr lang="en-US" dirty="0"/>
              <a:t> </a:t>
            </a:r>
            <a:r>
              <a:rPr lang="en-US" dirty="0" err="1"/>
              <a:t>oktetlərə</a:t>
            </a:r>
            <a:r>
              <a:rPr lang="en-US" dirty="0"/>
              <a:t> </a:t>
            </a:r>
            <a:r>
              <a:rPr lang="en-US" dirty="0" err="1"/>
              <a:t>bölünür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: 192.168.1.1).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oktet</a:t>
            </a:r>
            <a:r>
              <a:rPr lang="en-US" dirty="0"/>
              <a:t> 8 </a:t>
            </a:r>
            <a:r>
              <a:rPr lang="en-US" dirty="0" err="1"/>
              <a:t>bitdir</a:t>
            </a:r>
            <a:r>
              <a:rPr lang="en-US" dirty="0"/>
              <a:t> (8 </a:t>
            </a:r>
            <a:r>
              <a:rPr lang="az-Latn-AZ" dirty="0"/>
              <a:t>X</a:t>
            </a:r>
            <a:r>
              <a:rPr lang="en-US" dirty="0"/>
              <a:t> 4 = 32 bit).</a:t>
            </a:r>
            <a:endParaRPr lang="az-Latn-AZ" dirty="0"/>
          </a:p>
          <a:p>
            <a:pPr marL="0" indent="0">
              <a:buNone/>
            </a:pP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IP-</a:t>
            </a:r>
            <a:r>
              <a:rPr lang="en-US" dirty="0" err="1"/>
              <a:t>nin</a:t>
            </a:r>
            <a:r>
              <a:rPr lang="en-US" dirty="0"/>
              <a:t> </a:t>
            </a:r>
            <a:r>
              <a:rPr lang="en-US" dirty="0" err="1"/>
              <a:t>yanında</a:t>
            </a:r>
            <a:r>
              <a:rPr lang="en-US" dirty="0"/>
              <a:t> </a:t>
            </a:r>
            <a:r>
              <a:rPr lang="en-US" dirty="0" err="1"/>
              <a:t>mütləq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Subnet Mask-ı (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maskası</a:t>
            </a:r>
            <a:r>
              <a:rPr lang="en-US" dirty="0"/>
              <a:t>) </a:t>
            </a:r>
            <a:r>
              <a:rPr lang="en-US" dirty="0" err="1"/>
              <a:t>olmalıdır</a:t>
            </a:r>
            <a:r>
              <a:rPr lang="en-US" dirty="0"/>
              <a:t>.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maskası</a:t>
            </a:r>
            <a:r>
              <a:rPr lang="en-US" dirty="0"/>
              <a:t> IP-</a:t>
            </a:r>
            <a:r>
              <a:rPr lang="en-US" dirty="0" err="1"/>
              <a:t>nin</a:t>
            </a:r>
            <a:r>
              <a:rPr lang="en-US" dirty="0"/>
              <a:t> </a:t>
            </a:r>
            <a:r>
              <a:rPr lang="en-US" dirty="0" err="1"/>
              <a:t>hansı</a:t>
            </a:r>
            <a:r>
              <a:rPr lang="en-US" dirty="0"/>
              <a:t> </a:t>
            </a:r>
            <a:r>
              <a:rPr lang="en-US" dirty="0" err="1"/>
              <a:t>hissəsinin</a:t>
            </a:r>
            <a:r>
              <a:rPr lang="en-US" dirty="0"/>
              <a:t> </a:t>
            </a:r>
            <a:r>
              <a:rPr lang="en-US" dirty="0" err="1"/>
              <a:t>şəbəkəyə</a:t>
            </a:r>
            <a:r>
              <a:rPr lang="en-US" dirty="0"/>
              <a:t> (Network ID), </a:t>
            </a:r>
            <a:r>
              <a:rPr lang="en-US" dirty="0" err="1"/>
              <a:t>hansı</a:t>
            </a:r>
            <a:r>
              <a:rPr lang="en-US" dirty="0"/>
              <a:t> </a:t>
            </a:r>
            <a:r>
              <a:rPr lang="en-US" dirty="0" err="1"/>
              <a:t>hissəsinin</a:t>
            </a:r>
            <a:r>
              <a:rPr lang="en-US" dirty="0"/>
              <a:t> </a:t>
            </a:r>
            <a:r>
              <a:rPr lang="en-US" dirty="0" err="1"/>
              <a:t>isə</a:t>
            </a:r>
            <a:r>
              <a:rPr lang="en-US" dirty="0"/>
              <a:t> </a:t>
            </a:r>
            <a:r>
              <a:rPr lang="en-US" dirty="0" err="1"/>
              <a:t>cihazlara</a:t>
            </a:r>
            <a:r>
              <a:rPr lang="en-US" dirty="0"/>
              <a:t> (Host ID) aid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göstərir</a:t>
            </a:r>
            <a:r>
              <a:rPr lang="en-US" dirty="0"/>
              <a:t>.</a:t>
            </a:r>
            <a:endParaRPr lang="az-Latn-AZ" dirty="0"/>
          </a:p>
          <a:p>
            <a:r>
              <a:rPr lang="en-US" dirty="0" err="1"/>
              <a:t>Nümunə</a:t>
            </a:r>
            <a:r>
              <a:rPr lang="en-US" dirty="0"/>
              <a:t> standard </a:t>
            </a:r>
            <a:r>
              <a:rPr lang="en-US" dirty="0" err="1"/>
              <a:t>maska</a:t>
            </a:r>
            <a:r>
              <a:rPr lang="en-US" dirty="0"/>
              <a:t>: 255.255.255.0</a:t>
            </a:r>
            <a:endParaRPr lang="az-Latn-AZ" dirty="0"/>
          </a:p>
          <a:p>
            <a:r>
              <a:rPr lang="en-US" dirty="0"/>
              <a:t>Bunun CIDR </a:t>
            </a:r>
            <a:r>
              <a:rPr lang="en-US" dirty="0" err="1"/>
              <a:t>qarşılığı</a:t>
            </a:r>
            <a:r>
              <a:rPr lang="en-US" dirty="0"/>
              <a:t> /24 </a:t>
            </a:r>
            <a:r>
              <a:rPr lang="en-US" dirty="0" err="1"/>
              <a:t>formatındadır</a:t>
            </a:r>
            <a:r>
              <a:rPr lang="en-US" dirty="0"/>
              <a:t>. </a:t>
            </a:r>
            <a:r>
              <a:rPr lang="en-US" dirty="0" err="1"/>
              <a:t>Çünki</a:t>
            </a:r>
            <a:r>
              <a:rPr lang="en-US" dirty="0"/>
              <a:t> 255.255.255.0 </a:t>
            </a:r>
            <a:r>
              <a:rPr lang="en-US" dirty="0" err="1"/>
              <a:t>ikilik</a:t>
            </a:r>
            <a:r>
              <a:rPr lang="en-US" dirty="0"/>
              <a:t> </a:t>
            </a:r>
            <a:r>
              <a:rPr lang="en-US" dirty="0" err="1"/>
              <a:t>sistemdə</a:t>
            </a:r>
            <a:r>
              <a:rPr lang="en-US" dirty="0"/>
              <a:t> </a:t>
            </a:r>
            <a:r>
              <a:rPr lang="en-US" dirty="0" err="1"/>
              <a:t>yazılsa</a:t>
            </a:r>
            <a:r>
              <a:rPr lang="en-US" dirty="0"/>
              <a:t>, tam 24 </a:t>
            </a:r>
            <a:r>
              <a:rPr lang="en-US" dirty="0" err="1"/>
              <a:t>ədəd</a:t>
            </a:r>
            <a:r>
              <a:rPr lang="en-US" dirty="0"/>
              <a:t> 1 </a:t>
            </a:r>
            <a:r>
              <a:rPr lang="en-US" dirty="0" err="1"/>
              <a:t>bitindən</a:t>
            </a:r>
            <a:r>
              <a:rPr lang="en-US" dirty="0"/>
              <a:t> ibarətdir:11111111.11111111.11111111.00000000</a:t>
            </a:r>
          </a:p>
        </p:txBody>
      </p:sp>
    </p:spTree>
    <p:extLst>
      <p:ext uri="{BB962C8B-B14F-4D97-AF65-F5344CB8AC3E}">
        <p14:creationId xmlns:p14="http://schemas.microsoft.com/office/powerpoint/2010/main" val="2701726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96B73A-DDFB-9C0E-E3AB-16DA40E8A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093239"/>
              </p:ext>
            </p:extLst>
          </p:nvPr>
        </p:nvGraphicFramePr>
        <p:xfrm>
          <a:off x="838200" y="1356485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624933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858018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43382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CIDR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Subnet Mask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Host </a:t>
                      </a:r>
                      <a:r>
                        <a:rPr lang="en-US" dirty="0" err="1"/>
                        <a:t>sayı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908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/24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255.255.255.0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26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/25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255.255.255.128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793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255.255.255.192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630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/27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255.255.255.224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83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255.255.255.240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7446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BDF26B-148E-614D-D298-08C3B63A2EC2}"/>
              </a:ext>
            </a:extLst>
          </p:cNvPr>
          <p:cNvSpPr txBox="1"/>
          <p:nvPr/>
        </p:nvSpPr>
        <p:spPr>
          <a:xfrm>
            <a:off x="838200" y="404882"/>
            <a:ext cx="6093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CIDR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47464F-7D18-8E5D-E87E-41826EDA676B}"/>
                  </a:ext>
                </a:extLst>
              </p:cNvPr>
              <p:cNvSpPr txBox="1"/>
              <p:nvPr/>
            </p:nvSpPr>
            <p:spPr>
              <a:xfrm>
                <a:off x="838200" y="3917873"/>
                <a:ext cx="6093994" cy="2267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dirty="0"/>
                  <a:t>Formula:</a:t>
                </a:r>
                <a:r>
                  <a:rPr lang="az-Latn-AZ" sz="2000" dirty="0"/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/>
                        </m:ctrlPr>
                      </m:sSupPr>
                      <m:e>
                        <m:r>
                          <a:rPr lang="ar-AE" sz="2000"/>
                          <m:t>2</m:t>
                        </m:r>
                      </m:e>
                      <m:sup>
                        <m:d>
                          <m:dPr>
                            <m:ctrlPr>
                              <a:rPr lang="ar-AE" sz="2000" i="1"/>
                            </m:ctrlPr>
                          </m:dPr>
                          <m:e>
                            <m:r>
                              <a:rPr lang="ar-AE" sz="2000" i="0"/>
                              <m:t>32</m:t>
                            </m:r>
                            <m:r>
                              <a:rPr lang="ar-AE" sz="2000" i="0"/>
                              <m:t>−</m:t>
                            </m:r>
                            <m:r>
                              <a:rPr lang="ar-AE" sz="2000" i="1"/>
                              <m:t>𝐶𝐼𝐷𝑅</m:t>
                            </m:r>
                          </m:e>
                        </m:d>
                      </m:sup>
                    </m:sSup>
                    <m:r>
                      <a:rPr lang="ar-AE" sz="2000" i="0"/>
                      <m:t>−</m:t>
                    </m:r>
                    <m:r>
                      <a:rPr lang="ar-AE" sz="2000" i="0"/>
                      <m:t>2</m:t>
                    </m:r>
                  </m:oMath>
                </a14:m>
                <a:endParaRPr lang="ar-AE" sz="2000" dirty="0"/>
              </a:p>
              <a:p>
                <a:pPr>
                  <a:buNone/>
                </a:pPr>
                <a:r>
                  <a:rPr lang="en-US" sz="2000" dirty="0"/>
                  <a:t>Misal:</a:t>
                </a:r>
              </a:p>
              <a:p>
                <a:pPr>
                  <a:buNone/>
                </a:pPr>
                <a:r>
                  <a:rPr lang="en-US" sz="2000" dirty="0"/>
                  <a:t>/27</a:t>
                </a:r>
              </a:p>
              <a:p>
                <a:pPr>
                  <a:buNone/>
                </a:pPr>
                <a:r>
                  <a:rPr lang="en-US" sz="2000" dirty="0"/>
                  <a:t>Host </a:t>
                </a:r>
                <a:r>
                  <a:rPr lang="en-US" sz="2000" dirty="0" err="1"/>
                  <a:t>bitləri</a:t>
                </a:r>
                <a:r>
                  <a:rPr lang="en-US" sz="2000" dirty="0"/>
                  <a:t>:</a:t>
                </a:r>
              </a:p>
              <a:p>
                <a:pPr>
                  <a:buNone/>
                </a:pPr>
                <a:r>
                  <a:rPr lang="en-US" sz="2000" dirty="0"/>
                  <a:t>32 - 27 = 5</a:t>
                </a:r>
              </a:p>
              <a:p>
                <a:pPr>
                  <a:buNone/>
                </a:pPr>
                <a:r>
                  <a:rPr lang="en-US" sz="2000" dirty="0"/>
                  <a:t>Host </a:t>
                </a:r>
                <a:r>
                  <a:rPr lang="en-US" sz="2000" dirty="0" err="1"/>
                  <a:t>sayı</a:t>
                </a:r>
                <a:r>
                  <a:rPr lang="en-US" sz="2000" dirty="0"/>
                  <a:t>:</a:t>
                </a:r>
              </a:p>
              <a:p>
                <a:pPr>
                  <a:buNone/>
                </a:pPr>
                <a:r>
                  <a:rPr lang="en-US" sz="2000" dirty="0"/>
                  <a:t>2⁵ - 2 = 30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47464F-7D18-8E5D-E87E-41826EDA6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17873"/>
                <a:ext cx="6093994" cy="2267672"/>
              </a:xfrm>
              <a:prstGeom prst="rect">
                <a:avLst/>
              </a:prstGeom>
              <a:blipFill>
                <a:blip r:embed="rId2"/>
                <a:stretch>
                  <a:fillRect l="-1101" t="-538" b="-3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639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3423AA-8E08-15C2-ED76-9AEBE7934429}"/>
              </a:ext>
            </a:extLst>
          </p:cNvPr>
          <p:cNvSpPr txBox="1"/>
          <p:nvPr/>
        </p:nvSpPr>
        <p:spPr>
          <a:xfrm>
            <a:off x="532397" y="1351508"/>
            <a:ext cx="609399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/27 </a:t>
            </a:r>
            <a:r>
              <a:rPr lang="en-US" sz="2400" dirty="0" err="1">
                <a:solidFill>
                  <a:srgbClr val="FF0000"/>
                </a:solidFill>
              </a:rPr>
              <a:t>üçün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27 bit 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5 bit 0 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Binar </a:t>
            </a:r>
            <a:r>
              <a:rPr lang="en-US" sz="2400" dirty="0" err="1">
                <a:solidFill>
                  <a:srgbClr val="FF0000"/>
                </a:solidFill>
              </a:rPr>
              <a:t>formada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  <a:p>
            <a:pPr rtl="0">
              <a:buNone/>
            </a:pPr>
            <a:r>
              <a:rPr lang="en-US" sz="2400" dirty="0"/>
              <a:t>11111111.11111111.11111111.11100000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Son </a:t>
            </a:r>
            <a:r>
              <a:rPr lang="en-US" sz="2400" dirty="0" err="1">
                <a:solidFill>
                  <a:srgbClr val="FF0000"/>
                </a:solidFill>
              </a:rPr>
              <a:t>oktet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  <a:p>
            <a:pPr rtl="0">
              <a:buNone/>
            </a:pPr>
            <a:r>
              <a:rPr lang="en-US" sz="2400" dirty="0"/>
              <a:t>11100000</a:t>
            </a:r>
          </a:p>
          <a:p>
            <a:pPr>
              <a:buNone/>
            </a:pPr>
            <a:r>
              <a:rPr lang="en-US" sz="2400" dirty="0" err="1">
                <a:solidFill>
                  <a:srgbClr val="FF0000"/>
                </a:solidFill>
              </a:rPr>
              <a:t>Hesablayırıq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  <a:p>
            <a:pPr rtl="0">
              <a:buNone/>
            </a:pPr>
            <a:r>
              <a:rPr lang="en-US" sz="2400" dirty="0"/>
              <a:t>128 + 64 + 32 = 224</a:t>
            </a:r>
          </a:p>
          <a:p>
            <a:pPr>
              <a:buNone/>
            </a:pPr>
            <a:r>
              <a:rPr lang="en-US" sz="2400" dirty="0" err="1">
                <a:solidFill>
                  <a:srgbClr val="FF0000"/>
                </a:solidFill>
              </a:rPr>
              <a:t>Nəticə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  <a:p>
            <a:pPr rtl="0">
              <a:buNone/>
            </a:pPr>
            <a:r>
              <a:rPr lang="en-US" sz="2400" dirty="0"/>
              <a:t>/27 = 255.255.255.224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580CB-0976-332B-C39F-71C8687F31A0}"/>
              </a:ext>
            </a:extLst>
          </p:cNvPr>
          <p:cNvSpPr txBox="1"/>
          <p:nvPr/>
        </p:nvSpPr>
        <p:spPr>
          <a:xfrm>
            <a:off x="6728660" y="1905506"/>
            <a:ext cx="52427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err="1">
                <a:solidFill>
                  <a:srgbClr val="FF0000"/>
                </a:solidFill>
              </a:rPr>
              <a:t>Hər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subnetdə</a:t>
            </a:r>
            <a:r>
              <a:rPr lang="en-US" sz="2400" dirty="0">
                <a:solidFill>
                  <a:srgbClr val="FF0000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Ümumi</a:t>
            </a:r>
            <a:r>
              <a:rPr lang="en-US" sz="2400" dirty="0"/>
              <a:t> </a:t>
            </a:r>
            <a:r>
              <a:rPr lang="en-US" sz="2400" dirty="0" err="1"/>
              <a:t>ünvan</a:t>
            </a:r>
            <a:r>
              <a:rPr lang="en-US" sz="2400" dirty="0"/>
              <a:t> </a:t>
            </a:r>
            <a:r>
              <a:rPr lang="en-US" sz="2400" dirty="0" err="1"/>
              <a:t>sayı</a:t>
            </a:r>
            <a:r>
              <a:rPr lang="en-US" sz="2400" dirty="0"/>
              <a:t>: 2⁵ = 32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İstifadə</a:t>
            </a:r>
            <a:r>
              <a:rPr lang="en-US" sz="2400" dirty="0"/>
              <a:t> </a:t>
            </a:r>
            <a:r>
              <a:rPr lang="en-US" sz="2400" dirty="0" err="1"/>
              <a:t>edilə</a:t>
            </a:r>
            <a:r>
              <a:rPr lang="en-US" sz="2400" dirty="0"/>
              <a:t> </a:t>
            </a:r>
            <a:r>
              <a:rPr lang="en-US" sz="2400" dirty="0" err="1"/>
              <a:t>bilən</a:t>
            </a:r>
            <a:r>
              <a:rPr lang="en-US" sz="2400" dirty="0"/>
              <a:t> host </a:t>
            </a:r>
            <a:r>
              <a:rPr lang="en-US" sz="2400" dirty="0" err="1"/>
              <a:t>sayı</a:t>
            </a:r>
            <a:r>
              <a:rPr lang="en-US" sz="2400" dirty="0"/>
              <a:t>: 32 - 2 = 30 </a:t>
            </a:r>
          </a:p>
          <a:p>
            <a:pPr>
              <a:buNone/>
            </a:pPr>
            <a:r>
              <a:rPr lang="en-US" sz="2400" dirty="0" err="1">
                <a:solidFill>
                  <a:srgbClr val="FF0000"/>
                </a:solidFill>
              </a:rPr>
              <a:t>Məsələn</a:t>
            </a:r>
            <a:r>
              <a:rPr lang="en-US" sz="2400" dirty="0">
                <a:solidFill>
                  <a:srgbClr val="FF0000"/>
                </a:solidFill>
              </a:rPr>
              <a:t>, </a:t>
            </a:r>
            <a:r>
              <a:rPr lang="en-US" sz="2400" dirty="0"/>
              <a:t>192.168.1.0/27 </a:t>
            </a:r>
            <a:r>
              <a:rPr lang="en-US" sz="2400" dirty="0" err="1"/>
              <a:t>şəbəkəsində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Network: 192.168.1.0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İlk host: 192.168.1.1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Son host: 192.168.1.30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Broadcast: 192.168.1.31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3AA355-B34D-A0EF-BD78-5A4BCA961369}"/>
              </a:ext>
            </a:extLst>
          </p:cNvPr>
          <p:cNvSpPr txBox="1"/>
          <p:nvPr/>
        </p:nvSpPr>
        <p:spPr>
          <a:xfrm>
            <a:off x="532397" y="477071"/>
            <a:ext cx="6093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Nümunə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66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B8E8-0095-DE23-DADB-9798C587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Ubuntu-da </a:t>
            </a:r>
            <a:r>
              <a:rPr lang="en-US" b="1" dirty="0" err="1">
                <a:solidFill>
                  <a:srgbClr val="FF0000"/>
                </a:solidFill>
              </a:rPr>
              <a:t>ip</a:t>
            </a:r>
            <a:r>
              <a:rPr lang="en-US" b="1" dirty="0">
                <a:solidFill>
                  <a:srgbClr val="FF0000"/>
                </a:solidFill>
              </a:rPr>
              <a:t> 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C3BD7-E8AB-A3FC-CEA2-A86C273F2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164080" cy="4613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6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271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 Subnetting və IP Planning-in</vt:lpstr>
      <vt:lpstr>IPv4-ün daxili quruluşu</vt:lpstr>
      <vt:lpstr>PowerPoint Presentation</vt:lpstr>
      <vt:lpstr>PowerPoint Presentation</vt:lpstr>
      <vt:lpstr>Ubuntu-da ip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2026-05-31T10:12:46Z</dcterms:created>
  <dcterms:modified xsi:type="dcterms:W3CDTF">2026-05-31T10:43:05Z</dcterms:modified>
</cp:coreProperties>
</file>